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74" r:id="rId10"/>
    <p:sldId id="263" r:id="rId11"/>
    <p:sldId id="264" r:id="rId12"/>
    <p:sldId id="265" r:id="rId13"/>
    <p:sldId id="273" r:id="rId14"/>
    <p:sldId id="278" r:id="rId15"/>
    <p:sldId id="277" r:id="rId16"/>
    <p:sldId id="275" r:id="rId17"/>
    <p:sldId id="276" r:id="rId18"/>
    <p:sldId id="283" r:id="rId19"/>
    <p:sldId id="280" r:id="rId20"/>
    <p:sldId id="282" r:id="rId21"/>
    <p:sldId id="284" r:id="rId22"/>
    <p:sldId id="281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40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09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49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89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82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28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68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10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06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51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6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and Characterising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Pollution Patterns in Beijing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029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Enrik Shabani · Daniel Schneggenburger · Faysal Fouzi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Lausanne — Master in Management, Business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air pollution in Beijing? Why machine learning?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411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99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709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56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stations, 420K+ observations, temporal interpolation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411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97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459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0662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× 3 feature sets — predicting hourly PM2.5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411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95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PCA — identifying pollution regimes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411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593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59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limitations, outlook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5786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496777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linked to respiratory &amp; cardiovascular disease (WHO, 2018)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Beijing: one of the most polluted megacities globally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PM2.5 = 79.7 µg/m³ — WHO limit is 5 µg/m³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episodes &gt; 500 µg/m³ recorded in winter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05786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Objective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496777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hourly PM2.5 concentrations using supervised ML</a:t>
            </a:r>
            <a:endParaRPr lang="en-US" sz="14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recurring pollution regimes via unsupervised learning</a:t>
            </a:r>
            <a:endParaRPr lang="en-US" sz="14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key drivers of air quality variations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0" cy="2743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926559"/>
            <a:ext cx="841248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9971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44020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99971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420K+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44020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99971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years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44020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9971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440204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590" y="1017510"/>
            <a:ext cx="27400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 Air Quality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2473" y="1413703"/>
            <a:ext cx="10058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6707" y="1730432"/>
            <a:ext cx="753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473" y="1966915"/>
            <a:ext cx="151820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(target)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707" y="3358064"/>
            <a:ext cx="1076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473" y="3594547"/>
            <a:ext cx="191234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WSPM (wind speed)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(temperature)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DEWP (dew point)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32819" y="1017510"/>
            <a:ext cx="0" cy="384048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5831" y="101751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9033" y="1377824"/>
            <a:ext cx="4403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temporal linear interpolation (gap ≤ 6h)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gaps: station-level median imputation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train/test split (80% / 20%) — no data leakage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on skewed pollutants (PM2.5, PM10, CO, SO₂)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unsupervised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18" y="3262668"/>
            <a:ext cx="393192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78" y="335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temporal interpolation?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78" y="3633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levels evolve continuously — adjacent observations are the best proxy for missing values. Discarding incomplete records would cause significant information loss across 4 years of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DA — Correlation Analysi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EDA — Correlation Analysis</a:t>
            </a:r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</a:rPr>
              <a:t>EDA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89067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</a:rPr>
              <a:t>Top correlations (PM2.5, PM10, SO₂, NO₂, CO) — Pearson correlation matrix (Figure 5)</a:t>
            </a:r>
          </a:p>
        </p:txBody>
      </p:sp>
      <p:sp>
        <p:nvSpPr>
          <p:cNvPr id="6" name="KeyFindingsHdr"/>
          <p:cNvSpPr/>
          <p:nvPr/>
        </p:nvSpPr>
        <p:spPr>
          <a:xfrm>
            <a:off x="472000" y="1477632"/>
            <a:ext cx="41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</a:rPr>
              <a:t>Key Correlations with PM2.5</a:t>
            </a:r>
          </a:p>
        </p:txBody>
      </p:sp>
      <p:sp>
        <p:nvSpPr>
          <p:cNvPr id="7" name="KeyFindings"/>
          <p:cNvSpPr/>
          <p:nvPr/>
        </p:nvSpPr>
        <p:spPr>
          <a:xfrm>
            <a:off x="472000" y="1773720"/>
            <a:ext cx="4040702" cy="114484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228600" indent="-228600"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PM10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</a:rPr>
              <a:t>r = 0.88 — shared emission sources (traffic, industry)</a:t>
            </a:r>
          </a:p>
          <a:p>
            <a:pPr marL="228600" indent="-228600"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CO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</a:rPr>
              <a:t>r = 0.78 — combustion indicator</a:t>
            </a:r>
          </a:p>
          <a:p>
            <a:pPr marL="228600" indent="-228600"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NO₂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</a:rPr>
              <a:t>r = 0.66 — vehicles and heating</a:t>
            </a:r>
          </a:p>
          <a:p>
            <a:pPr marL="228600" indent="-228600"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</a:rPr>
              <a:t>SO₂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</a:rPr>
              <a:t>r = 0.46 — coal burning, seasonality</a:t>
            </a:r>
          </a:p>
          <a:p>
            <a:pPr marL="228600" indent="-228600">
              <a:buChar char="•"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</a:rPr>
              <a:t>WSPM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</a:rPr>
              <a:t>r = −0.27 — wind disperses particles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E76D76D9-3219-71A1-183D-738F9ADA4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534680"/>
            <a:ext cx="304800" cy="39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KeyFindingsHdr">
            <a:extLst>
              <a:ext uri="{FF2B5EF4-FFF2-40B4-BE49-F238E27FC236}">
                <a16:creationId xmlns:a16="http://schemas.microsoft.com/office/drawing/2014/main" id="{C226B24E-DABA-78D3-D55C-D4BDC8BBFC3B}"/>
              </a:ext>
            </a:extLst>
          </p:cNvPr>
          <p:cNvSpPr/>
          <p:nvPr/>
        </p:nvSpPr>
        <p:spPr>
          <a:xfrm>
            <a:off x="472000" y="3705761"/>
            <a:ext cx="3811492" cy="580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</a:rPr>
              <a:t>Key Insight</a:t>
            </a:r>
          </a:p>
          <a:p>
            <a:pPr marL="0" indent="0">
              <a:buNone/>
            </a:pPr>
            <a:endParaRPr lang="en-US" sz="1200" b="1" dirty="0">
              <a:solidFill>
                <a:srgbClr val="374151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</a:rPr>
              <a:t>Combustion-related pollutants (CO, NO₂, PM10) cluster tightly with PM2.5 — pointing to shared traffic and heating emission sources.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</a:rPr>
              <a:t>These findings directly drive feature selection in the supervised models (Feature Set C includes CO, NO₂, SO₂, O₃).</a:t>
            </a:r>
          </a:p>
          <a:p>
            <a:pPr marL="0" indent="0">
              <a:buNone/>
            </a:pPr>
            <a:endParaRPr lang="en-US" sz="1000" dirty="0">
              <a:solidFill>
                <a:srgbClr val="374151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rgbClr val="374151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rgbClr val="374151"/>
              </a:solidFill>
              <a:latin typeface="Calibri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08E42E4-8C4D-00DC-7902-E587B2C29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32" y="1574660"/>
            <a:ext cx="3314368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KeyFindingsHdr">
            <a:extLst>
              <a:ext uri="{FF2B5EF4-FFF2-40B4-BE49-F238E27FC236}">
                <a16:creationId xmlns:a16="http://schemas.microsoft.com/office/drawing/2014/main" id="{C9A6309B-993A-2116-9CCD-AD9F1C099C2F}"/>
              </a:ext>
            </a:extLst>
          </p:cNvPr>
          <p:cNvSpPr/>
          <p:nvPr/>
        </p:nvSpPr>
        <p:spPr>
          <a:xfrm>
            <a:off x="5205232" y="4285856"/>
            <a:ext cx="349994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</a:rPr>
              <a:t>Extracted from Report figure 5: Pearson correlation matrix (top 5)  </a:t>
            </a: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6C12897-32AD-E833-24E5-4D56363F2D58}"/>
              </a:ext>
            </a:extLst>
          </p:cNvPr>
          <p:cNvSpPr/>
          <p:nvPr/>
        </p:nvSpPr>
        <p:spPr>
          <a:xfrm flipH="1">
            <a:off x="4661295" y="1251000"/>
            <a:ext cx="11036" cy="360028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 —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5197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hourly PM2.5 concentrations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02915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Feature Sets of Increasing Richness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22955"/>
            <a:ext cx="2651760" cy="1371600"/>
          </a:xfrm>
          <a:prstGeom prst="rect">
            <a:avLst/>
          </a:prstGeom>
          <a:solidFill>
            <a:srgbClr val="CBD5E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68675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16147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temporal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station dummies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22955"/>
            <a:ext cx="2651760" cy="1371600"/>
          </a:xfrm>
          <a:prstGeom prst="rect">
            <a:avLst/>
          </a:prstGeom>
          <a:solidFill>
            <a:srgbClr val="BFDBFE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568675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825192"/>
            <a:ext cx="2651760" cy="70377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lags &amp; rolling means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(1h, 3h, 6h)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22955"/>
            <a:ext cx="2651760" cy="1371600"/>
          </a:xfrm>
          <a:prstGeom prst="rect">
            <a:avLst/>
          </a:prstGeom>
          <a:solidFill>
            <a:srgbClr val="2563EB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68675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(final)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16147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+ Set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co-pollutants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(CO, NO₂, SO₂, O₃)</a:t>
            </a:r>
          </a:p>
        </p:txBody>
      </p:sp>
      <p:sp>
        <p:nvSpPr>
          <p:cNvPr id="16" name="Text 14"/>
          <p:cNvSpPr/>
          <p:nvPr/>
        </p:nvSpPr>
        <p:spPr>
          <a:xfrm>
            <a:off x="365760" y="30868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Model Families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6936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52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845848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406936"/>
            <a:ext cx="2651760" cy="1463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452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Ridge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3845848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406936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452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HGB 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26480" y="3845848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Gradient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final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3499" y="86294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with feature set C achieves best performance — RMSE 17.04 µg/m³, R² = 0.958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3499" y="1126415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499" y="1172135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17.04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3499" y="167962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(µg/m³)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0899" y="1126415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899" y="1172135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00899" y="1709802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58299" y="1126415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8299" y="1172135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&gt;70%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58299" y="167962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drop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 A → C)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5699" y="1126415"/>
            <a:ext cx="224028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699" y="1144703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pm25_lag_1h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5699" y="1647623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22782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Model Comparison — Table 1</a:t>
            </a:r>
            <a:endParaRPr lang="en-US" sz="1200" dirty="0"/>
          </a:p>
        </p:txBody>
      </p:sp>
      <p:graphicFrame>
        <p:nvGraphicFramePr>
          <p:cNvPr id="50" name="Table1Fu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406807"/>
              </p:ext>
            </p:extLst>
          </p:nvPr>
        </p:nvGraphicFramePr>
        <p:xfrm>
          <a:off x="343499" y="2527150"/>
          <a:ext cx="4365661" cy="2393490"/>
        </p:xfrm>
        <a:graphic>
          <a:graphicData uri="http://schemas.openxmlformats.org/drawingml/2006/table">
            <a:tbl>
              <a:tblPr/>
              <a:tblGrid>
                <a:gridCol w="818561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454756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773086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773086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773086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773086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Model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Set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Tr.RMSE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Te.RMSE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Tr.R²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Te.R²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HGB ★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C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15.04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17.04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0.965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0.958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OLS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C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18.72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17.41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0.946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0.956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Ridge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C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18.72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17.41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0.946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0.956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Ridge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B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20.18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18.77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0.937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0.949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OLS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B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20.18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18.77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0.937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0.949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HGB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B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19.80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19.38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0.939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0.945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HGB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A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49.13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56.63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0.625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0.534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OLS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A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63.29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65.19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0.377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0.382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39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Ridge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A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63.29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65.20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0.377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</a:rPr>
                        <a:t>0.382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983480" y="227033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39" y="2545375"/>
            <a:ext cx="3863939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matters far more than model complexity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lag features explain &gt;70% of RMSE improvement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= Ridge on sets B &amp; C (regularisation becomes negligible)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underpredicts extreme episodes (&gt;400 µg/m³)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relies on most recent observation → poor for multi-horizon forecasting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83480" y="4442604"/>
            <a:ext cx="3931920" cy="344691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 20"/>
          <p:cNvSpPr/>
          <p:nvPr/>
        </p:nvSpPr>
        <p:spPr>
          <a:xfrm>
            <a:off x="5120640" y="433542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on raw PM2.5 scale — directly interpretable in µg/m³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 —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7021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502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for Clustering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88540"/>
            <a:ext cx="599484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daily station means (17,532 obs.)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skewed pollutants (PM2.5, PM10, CO, SO₂) → </a:t>
            </a:r>
            <a:r>
              <a:rPr lang="fr-CH" sz="1200" dirty="0" err="1"/>
              <a:t>prevent</a:t>
            </a:r>
            <a:r>
              <a:rPr lang="fr-CH" sz="1200" dirty="0"/>
              <a:t> </a:t>
            </a:r>
            <a:r>
              <a:rPr lang="fr-CH" sz="1200" dirty="0" err="1"/>
              <a:t>extreme</a:t>
            </a:r>
            <a:r>
              <a:rPr lang="fr-CH" sz="1200" dirty="0"/>
              <a:t> pollution </a:t>
            </a:r>
            <a:r>
              <a:rPr lang="fr-CH" sz="1200" dirty="0" err="1"/>
              <a:t>episodes</a:t>
            </a:r>
            <a:r>
              <a:rPr lang="fr-CH" sz="1200" dirty="0"/>
              <a:t> </a:t>
            </a:r>
            <a:r>
              <a:rPr lang="fr-CH" sz="1200" dirty="0" err="1"/>
              <a:t>from</a:t>
            </a:r>
            <a:r>
              <a:rPr lang="fr-CH" sz="1200" dirty="0"/>
              <a:t> </a:t>
            </a:r>
            <a:r>
              <a:rPr lang="fr-CH" sz="1200" dirty="0" err="1"/>
              <a:t>dominating</a:t>
            </a:r>
            <a:r>
              <a:rPr lang="fr-CH" sz="1200" dirty="0"/>
              <a:t> the distance </a:t>
            </a:r>
            <a:r>
              <a:rPr lang="fr-CH" sz="1200" dirty="0" err="1"/>
              <a:t>calculations</a:t>
            </a:r>
            <a:r>
              <a:rPr lang="fr-CH" sz="1200" dirty="0"/>
              <a:t>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TEMP &amp; DEWP with monthly anomalies → removes seasonal bias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Winsorise at 1st–99th percentiles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lag features (no prediction goal here)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994" y="3636222"/>
            <a:ext cx="7788166" cy="102129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153" y="3699288"/>
            <a:ext cx="72689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7153" y="3827304"/>
            <a:ext cx="7268955" cy="83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replacing raw temperature with monthly anomalies, we ensure K-Means captures actual pollution regimes — not just seasons. This is the critical preprocessing step that makes the clusters meaningful.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0358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</p:spPr>
        <p:txBody>
          <a:bodyPr wrap="square" lIns="91440" tIns="45720" rIns="91440" bIns="45720" rtlCol="0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Unsupervised Learning — Choosing k</a:t>
            </a:r>
          </a:p>
        </p:txBody>
      </p:sp>
      <p:sp>
        <p:nvSpPr>
          <p:cNvPr id="4" name="Badge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</a:rPr>
              <a:t>Unsupervised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</a:rPr>
              <a:t>Elbow method + silhouette score used to select k = 4 clusters</a:t>
            </a:r>
          </a:p>
        </p:txBody>
      </p:sp>
      <p:sp>
        <p:nvSpPr>
          <p:cNvPr id="10" name="GraphLbl"/>
          <p:cNvSpPr/>
          <p:nvPr/>
        </p:nvSpPr>
        <p:spPr>
          <a:xfrm>
            <a:off x="4160520" y="1303810"/>
            <a:ext cx="4572000" cy="256032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</a:rPr>
              <a:t>K-Means Elbow method &amp; Silhouette score</a:t>
            </a:r>
          </a:p>
        </p:txBody>
      </p:sp>
      <p:pic>
        <p:nvPicPr>
          <p:cNvPr id="11" name="Elbow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81285"/>
            <a:ext cx="4480560" cy="136308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3" name="Table3Inertia">
            <a:extLst>
              <a:ext uri="{FF2B5EF4-FFF2-40B4-BE49-F238E27FC236}">
                <a16:creationId xmlns:a16="http://schemas.microsoft.com/office/drawing/2014/main" id="{4C0D7EBD-FC28-D667-5027-0097AA1AB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45163"/>
              </p:ext>
            </p:extLst>
          </p:nvPr>
        </p:nvGraphicFramePr>
        <p:xfrm>
          <a:off x="411480" y="1573073"/>
          <a:ext cx="2877472" cy="2607460"/>
        </p:xfrm>
        <a:graphic>
          <a:graphicData uri="http://schemas.openxmlformats.org/drawingml/2006/table">
            <a:tbl>
              <a:tblPr/>
              <a:tblGrid>
                <a:gridCol w="664032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10672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10672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</a:tblGrid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k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Inertia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Silhouette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106,201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0.2648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86,211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0.2220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76,700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</a:rPr>
                        <a:t>0.2057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70,202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0.1868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6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65,892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0.1779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62,497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0.1713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6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8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59,062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0.1731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7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56,152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0.1729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8"/>
                  </a:ext>
                </a:extLst>
              </a:tr>
              <a:tr h="260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10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53,923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</a:rPr>
                        <a:t>0.1613</a:t>
                      </a:r>
                    </a:p>
                  </a:txBody>
                  <a:tcPr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9"/>
                  </a:ext>
                </a:extLst>
              </a:tr>
            </a:tbl>
          </a:graphicData>
        </a:graphic>
      </p:graphicFrame>
      <p:sp>
        <p:nvSpPr>
          <p:cNvPr id="14" name="KeyFindingsHdr">
            <a:extLst>
              <a:ext uri="{FF2B5EF4-FFF2-40B4-BE49-F238E27FC236}">
                <a16:creationId xmlns:a16="http://schemas.microsoft.com/office/drawing/2014/main" id="{E28634A5-9418-8D4E-A79D-BFF9B46591E9}"/>
              </a:ext>
            </a:extLst>
          </p:cNvPr>
          <p:cNvSpPr/>
          <p:nvPr/>
        </p:nvSpPr>
        <p:spPr>
          <a:xfrm>
            <a:off x="411480" y="1280465"/>
            <a:ext cx="139333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</a:rPr>
              <a:t>Inertia &amp; Silhouette for k 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72FC1CA-1512-EF81-A01F-623925863A4C}"/>
              </a:ext>
            </a:extLst>
          </p:cNvPr>
          <p:cNvSpPr/>
          <p:nvPr/>
        </p:nvSpPr>
        <p:spPr>
          <a:xfrm>
            <a:off x="3766515" y="1313581"/>
            <a:ext cx="7883" cy="329499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7" name="KeyFindingsHdr">
            <a:extLst>
              <a:ext uri="{FF2B5EF4-FFF2-40B4-BE49-F238E27FC236}">
                <a16:creationId xmlns:a16="http://schemas.microsoft.com/office/drawing/2014/main" id="{3C148B4F-9186-E888-CD06-A0B9329CCE21}"/>
              </a:ext>
            </a:extLst>
          </p:cNvPr>
          <p:cNvSpPr/>
          <p:nvPr/>
        </p:nvSpPr>
        <p:spPr>
          <a:xfrm>
            <a:off x="4251960" y="3866408"/>
            <a:ext cx="4776951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</a:rPr>
              <a:t>Key observations:</a:t>
            </a:r>
          </a:p>
          <a:p>
            <a:pPr marL="228600" indent="-228600">
              <a:buChar char="▸"/>
            </a:pPr>
            <a:r>
              <a:rPr lang="en-US" sz="1000" dirty="0">
                <a:latin typeface="Calibri" pitchFamily="34" charset="0"/>
              </a:rPr>
              <a:t>Inertia drops fast from k = 2 → 4, then flattens.</a:t>
            </a:r>
          </a:p>
          <a:p>
            <a:pPr marL="228600" indent="-228600">
              <a:buChar char="▸"/>
            </a:pPr>
            <a:r>
              <a:rPr lang="en-US" sz="1000" dirty="0">
                <a:latin typeface="Calibri" pitchFamily="34" charset="0"/>
              </a:rPr>
              <a:t>Silhouette peaks at k = 2 but surely only leads to a binary clean/polluted split — not actionable.</a:t>
            </a:r>
          </a:p>
          <a:p>
            <a:pPr marL="228600" indent="-228600">
              <a:buChar char="▸"/>
            </a:pPr>
            <a:r>
              <a:rPr lang="en-US" sz="1000" dirty="0">
                <a:latin typeface="Calibri" pitchFamily="34" charset="0"/>
              </a:rPr>
              <a:t>k = 4 balances compactness with meaningful interpretability.</a:t>
            </a:r>
          </a:p>
          <a:p>
            <a:pPr marL="228600" indent="-228600">
              <a:buChar char="▸"/>
            </a:pPr>
            <a:endParaRPr lang="en-US" sz="1000" dirty="0"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0" i="1" dirty="0">
                <a:latin typeface="Calibri" pitchFamily="34" charset="0"/>
              </a:rPr>
              <a:t>Low silhouette (0.206) expected: pollution evolves continuously, not in discrete jumps. Common in environmental clustering literature.</a:t>
            </a:r>
          </a:p>
          <a:p>
            <a:pPr marL="0" indent="0">
              <a:buNone/>
            </a:pPr>
            <a:endParaRPr lang="en-US" sz="1000" dirty="0">
              <a:solidFill>
                <a:srgbClr val="374151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rgbClr val="374151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1200" b="1" dirty="0">
              <a:solidFill>
                <a:srgbClr val="374151"/>
              </a:solidFill>
              <a:latin typeface="Calibri" pitchFamily="34" charset="0"/>
            </a:endParaRPr>
          </a:p>
        </p:txBody>
      </p:sp>
      <p:sp>
        <p:nvSpPr>
          <p:cNvPr id="18" name="KeyFindingsHdr">
            <a:extLst>
              <a:ext uri="{FF2B5EF4-FFF2-40B4-BE49-F238E27FC236}">
                <a16:creationId xmlns:a16="http://schemas.microsoft.com/office/drawing/2014/main" id="{6D57782B-7E62-8CB2-F58A-A89552B1D729}"/>
              </a:ext>
            </a:extLst>
          </p:cNvPr>
          <p:cNvSpPr/>
          <p:nvPr/>
        </p:nvSpPr>
        <p:spPr>
          <a:xfrm>
            <a:off x="4251960" y="2914807"/>
            <a:ext cx="349994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</a:rPr>
              <a:t>Extracted from Report figure 15</a:t>
            </a:r>
          </a:p>
        </p:txBody>
      </p:sp>
      <p:sp>
        <p:nvSpPr>
          <p:cNvPr id="20" name="KeyFindingsHdr">
            <a:extLst>
              <a:ext uri="{FF2B5EF4-FFF2-40B4-BE49-F238E27FC236}">
                <a16:creationId xmlns:a16="http://schemas.microsoft.com/office/drawing/2014/main" id="{A9031E8A-178B-C497-8AA5-6C62C2977B06}"/>
              </a:ext>
            </a:extLst>
          </p:cNvPr>
          <p:cNvSpPr/>
          <p:nvPr/>
        </p:nvSpPr>
        <p:spPr>
          <a:xfrm>
            <a:off x="393959" y="4192524"/>
            <a:ext cx="179960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</a:rPr>
              <a:t>Extracted from report table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Pollution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44168"/>
            <a:ext cx="2011680" cy="1273367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3,879 obs.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633619"/>
            <a:ext cx="1865376" cy="399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166 µg/m³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CO: 2477 | Wind: 1.2 m/s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54875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172249"/>
            <a:ext cx="186537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47%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29%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04872" y="960120"/>
            <a:ext cx="2011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Photochemical Haze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4872" y="1344168"/>
            <a:ext cx="2011680" cy="1273367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4,648 obs.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96312" y="1600200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1672327"/>
            <a:ext cx="1865376" cy="32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82 µg/m³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O₃: 101 (high!)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96312" y="2054876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2147070"/>
            <a:ext cx="1865376" cy="32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54%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31%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81144" y="960120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Windy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81144" y="1344168"/>
            <a:ext cx="2011680" cy="1273367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4,254 obs.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72584" y="1600200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1689890"/>
            <a:ext cx="1865376" cy="290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20 µg/m³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Wind: 2.4 m/s (highest)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72584" y="2054876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9882" y="2114470"/>
            <a:ext cx="1865376" cy="39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seasons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57416" y="960120"/>
            <a:ext cx="201168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57416" y="1344168"/>
            <a:ext cx="2011680" cy="1273367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4,751 obs.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1600200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16418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58 µg/m³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vars intermediate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48856" y="2046992"/>
            <a:ext cx="1828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2139522"/>
            <a:ext cx="1865376" cy="28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Autumn↑</a:t>
            </a:r>
            <a:endParaRPr lang="en-US" sz="900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3C188AD6-5859-F43A-F5C5-1718264A9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16" y="3137955"/>
            <a:ext cx="5362168" cy="1703135"/>
          </a:xfrm>
          <a:prstGeom prst="rect">
            <a:avLst/>
          </a:prstGeom>
        </p:spPr>
      </p:pic>
      <p:sp>
        <p:nvSpPr>
          <p:cNvPr id="40" name="Shape 9">
            <a:extLst>
              <a:ext uri="{FF2B5EF4-FFF2-40B4-BE49-F238E27FC236}">
                <a16:creationId xmlns:a16="http://schemas.microsoft.com/office/drawing/2014/main" id="{E73C0554-0A59-552E-E4D3-AEAB4E427CDC}"/>
              </a:ext>
            </a:extLst>
          </p:cNvPr>
          <p:cNvSpPr/>
          <p:nvPr/>
        </p:nvSpPr>
        <p:spPr>
          <a:xfrm>
            <a:off x="228599" y="2731188"/>
            <a:ext cx="8540497" cy="740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0C63D357-39B2-2A70-93B2-50D63A35BB65}"/>
              </a:ext>
            </a:extLst>
          </p:cNvPr>
          <p:cNvSpPr/>
          <p:nvPr/>
        </p:nvSpPr>
        <p:spPr>
          <a:xfrm>
            <a:off x="301752" y="27813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profile – mean feature values</a:t>
            </a:r>
            <a:endParaRPr lang="en-US" sz="1200" dirty="0"/>
          </a:p>
        </p:txBody>
      </p:sp>
      <p:sp>
        <p:nvSpPr>
          <p:cNvPr id="43" name="KeyFindingsHdr">
            <a:extLst>
              <a:ext uri="{FF2B5EF4-FFF2-40B4-BE49-F238E27FC236}">
                <a16:creationId xmlns:a16="http://schemas.microsoft.com/office/drawing/2014/main" id="{DA1BE394-0857-8EFC-EB2C-77369C05A809}"/>
              </a:ext>
            </a:extLst>
          </p:cNvPr>
          <p:cNvSpPr/>
          <p:nvPr/>
        </p:nvSpPr>
        <p:spPr>
          <a:xfrm>
            <a:off x="3610144" y="4777073"/>
            <a:ext cx="177740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</a:rPr>
              <a:t>Extracted from Report figure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44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and what we can do better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8620" y="12508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36776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converge: pm2.5, wind speed, CO, NO₂ are dominant drivers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&gt; model complexity (&gt;70% RMSE reduction)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interpretable pollution regimes identified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+ meteorological conditions are central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705212"/>
            <a:ext cx="4114800" cy="1067956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966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of both approaches: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69804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model and the unsupervised clustering independently identify the same key variables — pm25, CO, NO₂, wind speed. This cross-validation reinforces our conclusions.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~10 years old (2013–2017) — may not reflect current Beijing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 requires most recent PM2.5 → limited to one-step-ahead prediction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0.206 — clusters are tendencies, not strict groups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465576"/>
            <a:ext cx="3931920" cy="9192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recent data + other Chinese cities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traffic counts, satellite imagery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Enrik Shabani · Daniel Schneggenburger · Faysal Fouzi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Lausanne — Master in Management, Business Analytics —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3C5FD"/>
                </a:solidFill>
                <a:latin typeface="Calibri" pitchFamily="34" charset="0"/>
              </a:rPr>
              <a:t>Supporting material &amp; additional results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Enrik Shabani · Daniel Schneggenburger · Faysal Fouzi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Lausanne — Master in Management, Business Analytics — May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343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448997" y="2415224"/>
            <a:ext cx="5942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>
                <a:solidFill>
                  <a:schemeClr val="bg1"/>
                </a:solidFill>
              </a:rPr>
              <a:t>Distribution and spread of PM2.5 (figure 1)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0083C6-4334-E705-D30A-1EFD75D5C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21141"/>
            <a:ext cx="5362817" cy="1294083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3082DEA-8DDD-D2A0-9109-1FB1EB556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40168"/>
            <a:ext cx="3924958" cy="1916451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B6A8036-A41F-631F-89A9-4E377272893D}"/>
              </a:ext>
            </a:extLst>
          </p:cNvPr>
          <p:cNvSpPr txBox="1"/>
          <p:nvPr/>
        </p:nvSpPr>
        <p:spPr>
          <a:xfrm>
            <a:off x="448997" y="4766064"/>
            <a:ext cx="5942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>
                <a:solidFill>
                  <a:schemeClr val="bg1"/>
                </a:solidFill>
              </a:rPr>
              <a:t>PM2.5 Distribution per </a:t>
            </a:r>
            <a:r>
              <a:rPr lang="fr-FR" sz="1200" i="1" dirty="0" err="1">
                <a:solidFill>
                  <a:schemeClr val="bg1"/>
                </a:solidFill>
              </a:rPr>
              <a:t>season</a:t>
            </a:r>
            <a:r>
              <a:rPr lang="fr-FR" sz="1200" i="1" dirty="0">
                <a:solidFill>
                  <a:schemeClr val="bg1"/>
                </a:solidFill>
              </a:rPr>
              <a:t> (figure 2)</a:t>
            </a:r>
          </a:p>
        </p:txBody>
      </p:sp>
    </p:spTree>
    <p:extLst>
      <p:ext uri="{BB962C8B-B14F-4D97-AF65-F5344CB8AC3E}">
        <p14:creationId xmlns:p14="http://schemas.microsoft.com/office/powerpoint/2010/main" val="39337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1006701" y="3467762"/>
            <a:ext cx="33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>
                <a:solidFill>
                  <a:schemeClr val="bg1"/>
                </a:solidFill>
              </a:rPr>
              <a:t>Heatmap</a:t>
            </a:r>
            <a:r>
              <a:rPr lang="fr-FR" i="1" dirty="0">
                <a:solidFill>
                  <a:schemeClr val="bg1"/>
                </a:solidFill>
              </a:rPr>
              <a:t> of PM2.5 </a:t>
            </a:r>
            <a:r>
              <a:rPr lang="fr-FR" i="1" dirty="0" err="1">
                <a:solidFill>
                  <a:schemeClr val="bg1"/>
                </a:solidFill>
              </a:rPr>
              <a:t>month</a:t>
            </a:r>
            <a:r>
              <a:rPr lang="fr-FR" i="1" dirty="0">
                <a:solidFill>
                  <a:schemeClr val="bg1"/>
                </a:solidFill>
              </a:rPr>
              <a:t> and </a:t>
            </a:r>
            <a:r>
              <a:rPr lang="fr-FR" i="1" dirty="0" err="1">
                <a:solidFill>
                  <a:schemeClr val="bg1"/>
                </a:solidFill>
              </a:rPr>
              <a:t>hours</a:t>
            </a:r>
            <a:r>
              <a:rPr lang="fr-FR" i="1" dirty="0">
                <a:solidFill>
                  <a:schemeClr val="bg1"/>
                </a:solidFill>
              </a:rPr>
              <a:t> (figure 3)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36B3697-24EE-A456-9CC9-FA22AAB2E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065" y="1621338"/>
            <a:ext cx="2950932" cy="16888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1F3CC8B-2279-88F5-C464-023446CB6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5" y="1621338"/>
            <a:ext cx="2703291" cy="168886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C68A892-0E9F-63D9-F530-4E48E39A8E90}"/>
              </a:ext>
            </a:extLst>
          </p:cNvPr>
          <p:cNvSpPr txBox="1"/>
          <p:nvPr/>
        </p:nvSpPr>
        <p:spPr>
          <a:xfrm>
            <a:off x="5408065" y="3406877"/>
            <a:ext cx="33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>
                <a:solidFill>
                  <a:schemeClr val="bg1"/>
                </a:solidFill>
              </a:rPr>
              <a:t>Heatmap</a:t>
            </a:r>
            <a:r>
              <a:rPr lang="fr-FR" i="1" dirty="0">
                <a:solidFill>
                  <a:schemeClr val="bg1"/>
                </a:solidFill>
              </a:rPr>
              <a:t> of PM2.5 </a:t>
            </a:r>
            <a:r>
              <a:rPr lang="fr-FR" i="1" dirty="0" err="1">
                <a:solidFill>
                  <a:schemeClr val="bg1"/>
                </a:solidFill>
              </a:rPr>
              <a:t>hour</a:t>
            </a:r>
            <a:r>
              <a:rPr lang="fr-FR" i="1" dirty="0">
                <a:solidFill>
                  <a:schemeClr val="bg1"/>
                </a:solidFill>
              </a:rPr>
              <a:t> and </a:t>
            </a:r>
            <a:r>
              <a:rPr lang="fr-FR" i="1" dirty="0" err="1">
                <a:solidFill>
                  <a:schemeClr val="bg1"/>
                </a:solidFill>
              </a:rPr>
              <a:t>day</a:t>
            </a:r>
            <a:r>
              <a:rPr lang="fr-FR" i="1" dirty="0">
                <a:solidFill>
                  <a:schemeClr val="bg1"/>
                </a:solidFill>
              </a:rPr>
              <a:t> (figure 4)</a:t>
            </a:r>
          </a:p>
        </p:txBody>
      </p:sp>
    </p:spTree>
    <p:extLst>
      <p:ext uri="{BB962C8B-B14F-4D97-AF65-F5344CB8AC3E}">
        <p14:creationId xmlns:p14="http://schemas.microsoft.com/office/powerpoint/2010/main" val="397020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88A0EB8-15CA-5C7F-7082-4CEC4E4A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2" y="1268082"/>
            <a:ext cx="3733556" cy="33039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879562" y="4672437"/>
            <a:ext cx="3591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Pearson </a:t>
            </a:r>
            <a:r>
              <a:rPr lang="fr-FR" i="1" dirty="0" err="1">
                <a:solidFill>
                  <a:schemeClr val="bg1"/>
                </a:solidFill>
              </a:rPr>
              <a:t>correlation</a:t>
            </a:r>
            <a:r>
              <a:rPr lang="fr-FR" i="1" dirty="0">
                <a:solidFill>
                  <a:schemeClr val="bg1"/>
                </a:solidFill>
              </a:rPr>
              <a:t> Matrix (figure 5)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E74D312-F636-DEF7-E6C4-11D263A43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026" y="1801089"/>
            <a:ext cx="4026828" cy="196619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96883C4-9336-A6D5-70F9-7D3583E36A91}"/>
              </a:ext>
            </a:extLst>
          </p:cNvPr>
          <p:cNvSpPr txBox="1"/>
          <p:nvPr/>
        </p:nvSpPr>
        <p:spPr>
          <a:xfrm>
            <a:off x="5270903" y="3873492"/>
            <a:ext cx="335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PM2.5 by </a:t>
            </a:r>
            <a:r>
              <a:rPr lang="fr-FR" i="1" dirty="0" err="1">
                <a:solidFill>
                  <a:schemeClr val="bg1"/>
                </a:solidFill>
              </a:rPr>
              <a:t>wind</a:t>
            </a:r>
            <a:r>
              <a:rPr lang="fr-FR" i="1" dirty="0">
                <a:solidFill>
                  <a:schemeClr val="bg1"/>
                </a:solidFill>
              </a:rPr>
              <a:t> </a:t>
            </a:r>
            <a:r>
              <a:rPr lang="fr-FR" i="1" dirty="0" err="1">
                <a:solidFill>
                  <a:schemeClr val="bg1"/>
                </a:solidFill>
              </a:rPr>
              <a:t>category</a:t>
            </a:r>
            <a:r>
              <a:rPr lang="fr-FR" i="1" dirty="0">
                <a:solidFill>
                  <a:schemeClr val="bg1"/>
                </a:solidFill>
              </a:rPr>
              <a:t> (figure 6)</a:t>
            </a:r>
          </a:p>
        </p:txBody>
      </p:sp>
    </p:spTree>
    <p:extLst>
      <p:ext uri="{BB962C8B-B14F-4D97-AF65-F5344CB8AC3E}">
        <p14:creationId xmlns:p14="http://schemas.microsoft.com/office/powerpoint/2010/main" val="401432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5269865" y="3980059"/>
            <a:ext cx="3318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Permutation </a:t>
            </a:r>
            <a:r>
              <a:rPr lang="fr-FR" dirty="0" err="1">
                <a:solidFill>
                  <a:schemeClr val="bg1"/>
                </a:solidFill>
              </a:rPr>
              <a:t>Feature</a:t>
            </a:r>
            <a:r>
              <a:rPr lang="fr-FR" dirty="0">
                <a:solidFill>
                  <a:schemeClr val="bg1"/>
                </a:solidFill>
              </a:rPr>
              <a:t> Importance </a:t>
            </a:r>
          </a:p>
          <a:p>
            <a:r>
              <a:rPr lang="fr-FR" dirty="0">
                <a:solidFill>
                  <a:schemeClr val="bg1"/>
                </a:solidFill>
              </a:rPr>
              <a:t>(figure 8)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B2871A-78DE-C3C4-8C65-A6E374A5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865" y="1549879"/>
            <a:ext cx="3359150" cy="22161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105F603-8D87-9B24-26D7-7A916C21A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85" y="1704123"/>
            <a:ext cx="3887932" cy="190766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2CFF3C2-81E8-5731-352F-48AA65444759}"/>
              </a:ext>
            </a:extLst>
          </p:cNvPr>
          <p:cNvSpPr txBox="1"/>
          <p:nvPr/>
        </p:nvSpPr>
        <p:spPr>
          <a:xfrm>
            <a:off x="548640" y="4043900"/>
            <a:ext cx="3562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Test RMSE by Model and </a:t>
            </a:r>
            <a:r>
              <a:rPr lang="fr-FR" dirty="0" err="1">
                <a:solidFill>
                  <a:schemeClr val="bg1"/>
                </a:solidFill>
              </a:rPr>
              <a:t>feature</a:t>
            </a:r>
            <a:r>
              <a:rPr lang="fr-FR" dirty="0">
                <a:solidFill>
                  <a:schemeClr val="bg1"/>
                </a:solidFill>
              </a:rPr>
              <a:t> set</a:t>
            </a:r>
          </a:p>
          <a:p>
            <a:r>
              <a:rPr lang="fr-FR" dirty="0">
                <a:solidFill>
                  <a:schemeClr val="bg1"/>
                </a:solidFill>
              </a:rPr>
              <a:t>(figure 7)</a:t>
            </a:r>
          </a:p>
        </p:txBody>
      </p:sp>
    </p:spTree>
    <p:extLst>
      <p:ext uri="{BB962C8B-B14F-4D97-AF65-F5344CB8AC3E}">
        <p14:creationId xmlns:p14="http://schemas.microsoft.com/office/powerpoint/2010/main" val="371035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CFF3C2-81E8-5731-352F-48AA65444759}"/>
              </a:ext>
            </a:extLst>
          </p:cNvPr>
          <p:cNvSpPr txBox="1"/>
          <p:nvPr/>
        </p:nvSpPr>
        <p:spPr>
          <a:xfrm>
            <a:off x="5233993" y="3689971"/>
            <a:ext cx="2632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Predicted</a:t>
            </a:r>
            <a:r>
              <a:rPr lang="fr-FR" dirty="0">
                <a:solidFill>
                  <a:schemeClr val="bg1"/>
                </a:solidFill>
              </a:rPr>
              <a:t> vs </a:t>
            </a:r>
            <a:r>
              <a:rPr lang="fr-FR" dirty="0" err="1">
                <a:solidFill>
                  <a:schemeClr val="bg1"/>
                </a:solidFill>
              </a:rPr>
              <a:t>Actual</a:t>
            </a:r>
            <a:r>
              <a:rPr lang="fr-FR" dirty="0">
                <a:solidFill>
                  <a:schemeClr val="bg1"/>
                </a:solidFill>
              </a:rPr>
              <a:t> PM2.5</a:t>
            </a:r>
          </a:p>
          <a:p>
            <a:r>
              <a:rPr lang="fr-FR" dirty="0">
                <a:solidFill>
                  <a:schemeClr val="bg1"/>
                </a:solidFill>
              </a:rPr>
              <a:t>(figure 10)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670DBF6-DC98-DFB5-A2E6-4B64AABF8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423" y="1300652"/>
            <a:ext cx="2289464" cy="228946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BD04BF4-489D-6261-EC8B-010C76446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61088"/>
            <a:ext cx="3936443" cy="108453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1148475-7F9B-19B2-EC4C-B8ECA0D66AE0}"/>
              </a:ext>
            </a:extLst>
          </p:cNvPr>
          <p:cNvSpPr txBox="1"/>
          <p:nvPr/>
        </p:nvSpPr>
        <p:spPr>
          <a:xfrm>
            <a:off x="659172" y="3682149"/>
            <a:ext cx="2632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Predicted</a:t>
            </a:r>
            <a:r>
              <a:rPr lang="fr-FR" dirty="0">
                <a:solidFill>
                  <a:schemeClr val="bg1"/>
                </a:solidFill>
              </a:rPr>
              <a:t> vs </a:t>
            </a:r>
            <a:r>
              <a:rPr lang="fr-FR" dirty="0" err="1">
                <a:solidFill>
                  <a:schemeClr val="bg1"/>
                </a:solidFill>
              </a:rPr>
              <a:t>Actual</a:t>
            </a:r>
            <a:r>
              <a:rPr lang="fr-FR" dirty="0">
                <a:solidFill>
                  <a:schemeClr val="bg1"/>
                </a:solidFill>
              </a:rPr>
              <a:t> PM2.5</a:t>
            </a:r>
          </a:p>
          <a:p>
            <a:r>
              <a:rPr lang="fr-FR" dirty="0">
                <a:solidFill>
                  <a:schemeClr val="bg1"/>
                </a:solidFill>
              </a:rPr>
              <a:t>(figure 9)</a:t>
            </a:r>
          </a:p>
        </p:txBody>
      </p:sp>
    </p:spTree>
    <p:extLst>
      <p:ext uri="{BB962C8B-B14F-4D97-AF65-F5344CB8AC3E}">
        <p14:creationId xmlns:p14="http://schemas.microsoft.com/office/powerpoint/2010/main" val="2442670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4680396" y="4602432"/>
            <a:ext cx="515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Distributions of PM2.5, PM10, CO and SO2</a:t>
            </a:r>
          </a:p>
          <a:p>
            <a:r>
              <a:rPr lang="fr-CH" sz="1200" i="1" dirty="0" err="1">
                <a:solidFill>
                  <a:schemeClr val="bg1"/>
                </a:solidFill>
                <a:effectLst/>
                <a:latin typeface="Helvetica" pitchFamily="2" charset="0"/>
              </a:rPr>
              <a:t>before</a:t>
            </a:r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 and </a:t>
            </a:r>
            <a:r>
              <a:rPr lang="fr-CH" sz="1200" i="1" dirty="0" err="1">
                <a:solidFill>
                  <a:schemeClr val="bg1"/>
                </a:solidFill>
                <a:effectLst/>
                <a:latin typeface="Helvetica" pitchFamily="2" charset="0"/>
              </a:rPr>
              <a:t>after</a:t>
            </a:r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 the log transformation (figure 12)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597DBB-2D3D-BEF5-8956-9FB59BDB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82" y="2856727"/>
            <a:ext cx="3943296" cy="17457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C751877-5D57-5B7F-875D-66387ED8C83E}"/>
              </a:ext>
            </a:extLst>
          </p:cNvPr>
          <p:cNvSpPr txBox="1"/>
          <p:nvPr/>
        </p:nvSpPr>
        <p:spPr>
          <a:xfrm>
            <a:off x="548640" y="2856727"/>
            <a:ext cx="6039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i="1" dirty="0">
                <a:solidFill>
                  <a:schemeClr val="bg1"/>
                </a:solidFill>
                <a:latin typeface="Helvetica" pitchFamily="2" charset="0"/>
              </a:rPr>
              <a:t>Partial </a:t>
            </a:r>
            <a:r>
              <a:rPr lang="fr-CH" sz="1200" i="1" dirty="0" err="1">
                <a:solidFill>
                  <a:schemeClr val="bg1"/>
                </a:solidFill>
                <a:latin typeface="Helvetica" pitchFamily="2" charset="0"/>
              </a:rPr>
              <a:t>Dependance</a:t>
            </a:r>
            <a:r>
              <a:rPr lang="fr-CH" sz="1200" i="1" dirty="0">
                <a:solidFill>
                  <a:schemeClr val="bg1"/>
                </a:solidFill>
                <a:latin typeface="Helvetica" pitchFamily="2" charset="0"/>
              </a:rPr>
              <a:t> plots – HGB-C (figure 11) </a:t>
            </a:r>
            <a:endParaRPr lang="fr-CH" sz="1200" i="1" dirty="0">
              <a:solidFill>
                <a:schemeClr val="bg1"/>
              </a:solidFill>
              <a:effectLst/>
              <a:latin typeface="Helvetica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C141571-F3D1-70A1-9156-1CB99524B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58864"/>
            <a:ext cx="7772400" cy="15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0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819730" y="4846358"/>
            <a:ext cx="4650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PCA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loadings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–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feature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contributions to PC1 and PC2</a:t>
            </a:r>
            <a:r>
              <a:rPr lang="fr-CH" sz="12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(Figure 14)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928B4E5-53BE-9D0D-A011-B73500CFA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401961"/>
            <a:ext cx="4461164" cy="140970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BEB7CEF-B96C-4E8A-9B3D-BBF6D5722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1086929"/>
            <a:ext cx="5933063" cy="176680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F764453-1764-321A-285C-67200111CE0C}"/>
              </a:ext>
            </a:extLst>
          </p:cNvPr>
          <p:cNvSpPr txBox="1"/>
          <p:nvPr/>
        </p:nvSpPr>
        <p:spPr>
          <a:xfrm>
            <a:off x="819729" y="2939846"/>
            <a:ext cx="4650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PCA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scree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plot and variance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explained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</a:t>
            </a:r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(Figure 13)</a:t>
            </a:r>
          </a:p>
        </p:txBody>
      </p:sp>
    </p:spTree>
    <p:extLst>
      <p:ext uri="{BB962C8B-B14F-4D97-AF65-F5344CB8AC3E}">
        <p14:creationId xmlns:p14="http://schemas.microsoft.com/office/powerpoint/2010/main" val="2837101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819730" y="4580104"/>
            <a:ext cx="4650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Season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composition per cluster </a:t>
            </a:r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(Figure 17)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EBD9A24-7012-1ABC-3D14-365E63383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4" y="2684282"/>
            <a:ext cx="5164358" cy="182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00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86397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APPENDIX</a:t>
            </a:r>
            <a:endParaRPr lang="en-US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2B375-6C1B-BBC3-394A-56D43D8B815B}"/>
              </a:ext>
            </a:extLst>
          </p:cNvPr>
          <p:cNvSpPr txBox="1"/>
          <p:nvPr/>
        </p:nvSpPr>
        <p:spPr>
          <a:xfrm>
            <a:off x="4896957" y="3570494"/>
            <a:ext cx="368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PCA 2D visualisation of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daily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 station </a:t>
            </a:r>
            <a:r>
              <a:rPr lang="fr-CH" sz="1200" dirty="0" err="1">
                <a:solidFill>
                  <a:schemeClr val="bg1"/>
                </a:solidFill>
                <a:effectLst/>
                <a:latin typeface="Helvetica" pitchFamily="2" charset="0"/>
              </a:rPr>
              <a:t>aggregates</a:t>
            </a:r>
            <a:r>
              <a:rPr lang="fr-CH" sz="1200" dirty="0">
                <a:solidFill>
                  <a:schemeClr val="bg1"/>
                </a:solidFill>
                <a:effectLst/>
                <a:latin typeface="Helvetica" pitchFamily="2" charset="0"/>
              </a:rPr>
              <a:t>.</a:t>
            </a:r>
          </a:p>
          <a:p>
            <a:r>
              <a:rPr lang="fr-CH" sz="1200" i="1" dirty="0">
                <a:solidFill>
                  <a:schemeClr val="bg1"/>
                </a:solidFill>
                <a:effectLst/>
                <a:latin typeface="Helvetica" pitchFamily="2" charset="0"/>
              </a:rPr>
              <a:t>(Figure 19)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127B4D-8220-FFA7-CE88-39DC1C475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03" y="1786947"/>
            <a:ext cx="3922580" cy="16299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8E1B565-F724-29BD-20B6-9F56A925777A}"/>
              </a:ext>
            </a:extLst>
          </p:cNvPr>
          <p:cNvSpPr txBox="1"/>
          <p:nvPr/>
        </p:nvSpPr>
        <p:spPr>
          <a:xfrm>
            <a:off x="378234" y="3570494"/>
            <a:ext cx="3683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i="1" dirty="0">
                <a:solidFill>
                  <a:schemeClr val="bg1"/>
                </a:solidFill>
                <a:latin typeface="Helvetica" pitchFamily="2" charset="0"/>
              </a:rPr>
              <a:t>PM2.5 </a:t>
            </a:r>
            <a:r>
              <a:rPr lang="fr-CH" sz="1200" i="1" dirty="0" err="1">
                <a:solidFill>
                  <a:schemeClr val="bg1"/>
                </a:solidFill>
                <a:latin typeface="Helvetica" pitchFamily="2" charset="0"/>
              </a:rPr>
              <a:t>boxplot</a:t>
            </a:r>
            <a:r>
              <a:rPr lang="fr-CH" sz="1200" i="1" dirty="0">
                <a:solidFill>
                  <a:schemeClr val="bg1"/>
                </a:solidFill>
                <a:latin typeface="Helvetica" pitchFamily="2" charset="0"/>
              </a:rPr>
              <a:t> distribution by </a:t>
            </a:r>
            <a:r>
              <a:rPr lang="fr-CH" sz="1200" i="1" dirty="0" err="1">
                <a:solidFill>
                  <a:schemeClr val="bg1"/>
                </a:solidFill>
                <a:latin typeface="Helvetica" pitchFamily="2" charset="0"/>
              </a:rPr>
              <a:t>season</a:t>
            </a:r>
            <a:r>
              <a:rPr lang="fr-CH" sz="1200" i="1" dirty="0">
                <a:solidFill>
                  <a:schemeClr val="bg1"/>
                </a:solidFill>
                <a:latin typeface="Helvetica" pitchFamily="2" charset="0"/>
              </a:rPr>
              <a:t> (figure 18)</a:t>
            </a:r>
            <a:endParaRPr lang="fr-CH" sz="1200" i="1" dirty="0">
              <a:solidFill>
                <a:schemeClr val="bg1"/>
              </a:solidFill>
              <a:effectLst/>
              <a:latin typeface="Helvetica" pitchFamily="2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D0D1C64-8881-B4C0-6E80-6159F48A1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11" y="1786947"/>
            <a:ext cx="4218313" cy="15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34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1461</Words>
  <Application>Microsoft Office PowerPoint</Application>
  <PresentationFormat>Affichage à l'écran (16:9)</PresentationFormat>
  <Paragraphs>350</Paragraphs>
  <Slides>22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Prediction in Beijing</dc:title>
  <dc:subject>PptxGenJS Presentation</dc:subject>
  <dc:creator>PptxGenJS</dc:creator>
  <cp:lastModifiedBy>Enrik Shabani</cp:lastModifiedBy>
  <cp:revision>8</cp:revision>
  <dcterms:created xsi:type="dcterms:W3CDTF">2026-05-16T11:04:46Z</dcterms:created>
  <dcterms:modified xsi:type="dcterms:W3CDTF">2026-05-18T04:59:28Z</dcterms:modified>
</cp:coreProperties>
</file>